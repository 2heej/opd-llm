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헬스케어 PM 포트폴리오  ·  프롬프트 평가 프로젝트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신경과 재진 외래 AI 문진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FD9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환자·보호자의 말을 진료 전에 구조화된 SOAP 요약으로 —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FD9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프롬프트 v0~v3를 직접 설계하고 지표로 평가해 선택한 과정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0F4A50"/>
          </a:solidFill>
          <a:ln w="12700">
            <a:solidFill>
              <a:srgbClr val="1E60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3159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501091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검수한 합성 케이스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(개발 20 · 시험 10)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41605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0F4A50"/>
          </a:solidFill>
          <a:ln w="12700">
            <a:solidFill>
              <a:srgbClr val="1E60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3159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09160" y="501091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평가한 프롬프트 버전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(v0 → v3)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416052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0F4A50"/>
          </a:solidFill>
          <a:ln w="12700">
            <a:solidFill>
              <a:srgbClr val="1E60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315968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0.949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66760" y="5010912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프롬프트 Micro F1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(개발 세트 기준)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간호사 출신 · AI 헬스케어 PM 전환 포트폴리오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문제 정의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외래 접수 현장에서 매일 마주치던 네 가지 문제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누락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167128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목적이 진료 직전에야 드러난다. 접수 단계에서 파악되지 않아 진료실 안에서 시간이 소모된다.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요청 지연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167128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진단서·소견서 요청이 진료가 끝난 뒤에 나온다. 환자는 다시 대기하고, 창구 업무는 두 번 발생한다.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675888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5844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단독 내원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950208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환자 없이 보호자만 온 경우 처방·상담 범위가 달라진다. 이 사실이 늦게 확인되면 안전 문제로 이어진다.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675888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5844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상담 내용 누락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950208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환자가 털어놓은 이야기가 기록으로 이어지지 못하고, 다음 진료에서 같은 설명이 반복된다.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3492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질문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진료 전 문진 발화를 LLM으로 구조화·요약하면 이 문제들을 완화할 수 있는가? (서비스 구축이 아닌 프롬프트 설계·평가가 목적)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프로젝트 범위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서비스를 만드는 대신, 프롬프트 설계와 평가를 검증했다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105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하는 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39696"/>
            <a:ext cx="4526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치매 · 파킨슨병 · 뇌전증 재진 환자의 문진 발화를 구조화 JSON + SOAP 요약으로 변환하는 프롬프트를 설계하고, 버전별 성능을 정량 평가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5029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67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 않는 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4197096"/>
            <a:ext cx="4526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실서버 연동, 실제 환자 데이터 사용, 진단·치료 판단 생성 — 문진 단계의 정보 구조화에만 집중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645920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1645920"/>
            <a:ext cx="4160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환자·보호자 발화 (사투리, 번복, 다중 요청 포함 합성 케이스 30건)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0" y="2432304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2633472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633472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69480" y="2633472"/>
            <a:ext cx="4160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gpt-4.1-mini + 프롬프트 v0~v3 (동일 모델, 프롬프트만 변경)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0" y="3419856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3621024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621024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69480" y="3621024"/>
            <a:ext cx="4160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JSON — 방문 목적·서류·방문 형태 등 8개 필드 + SOAP 요약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0" y="4407408"/>
            <a:ext cx="365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72200" y="4608576"/>
            <a:ext cx="5394960" cy="841248"/>
          </a:xfrm>
          <a:prstGeom prst="roundRect">
            <a:avLst>
              <a:gd name="adj" fmla="val 8696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608576"/>
            <a:ext cx="868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4608576"/>
            <a:ext cx="4160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· Field Accuracy · Micro F1 · 누락률 · 환각률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산출물:  평가 노트북 · 합성 케이스 30건 + gold 라벨 · 프롬프트 4버전 · 문진 UI 프로토타입 · LangSmith 실험 기록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데이터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 문장이 아니라, 현장에서 들리는 말로 만들었다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비식별 합성 케이스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20건 / 시험 10건 분리</a:t>
            </a:r>
            <a:endParaRPr lang="en-US" sz="1300" dirty="0"/>
          </a:p>
          <a:p>
            <a:pPr marL="152400" indent="-1524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치매 · 파킨슨병 · 뇌전증 각 10건</a:t>
            </a:r>
            <a:endParaRPr lang="en-US" sz="1300" dirty="0"/>
          </a:p>
          <a:p>
            <a:pPr marL="152400" indent="-1524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gold 라벨을 직접 검토·확정</a:t>
            </a:r>
            <a:endParaRPr lang="en-US" sz="1300" dirty="0"/>
          </a:p>
          <a:p>
            <a:pPr marL="152400" indent="-1524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간호 경험 기반으로 실제 접수 상황을 재현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16916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'지저분한 발화'를 일부러 포함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7800" y="21488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8968" y="22585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사투리·구어체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58968" y="255117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 문장이 아닌 실제 말투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58200" y="21488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59368" y="22585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 번복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59368" y="255117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“지지난 주였나, 아니 지난주다”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310896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3218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요청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351129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 확인 + 서류 + 상담을 한 번에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310896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59368" y="321868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퉁명한 한 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59368" y="3511296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“약 타러요.” 같은 최소 발화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4206240"/>
            <a:ext cx="6263640" cy="1920240"/>
          </a:xfrm>
          <a:prstGeom prst="roundRect">
            <a:avLst>
              <a:gd name="adj" fmla="val 3810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437083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 예시 (뇌전증, case_025)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4681728"/>
            <a:ext cx="5715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“지지난 주였나, 아니 지난주다. 새벽에 애가 발작을 했어요. 근데 이번엔 좀 길었어요, 평소엔 금방 끝났는데. 그래서 그거 여쭤보러 왔고, 아 맞다 어린이집에 낼 진단서도 필요해요. 애랑 같이 왔어요.”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평가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느낌이 아니라 지표로 버전을 비교할 수 있게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 지표 — 필드 단위 자동 채점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1783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97480" y="2057400"/>
            <a:ext cx="3611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케이스의 모든 필드가 동시에 정답인 비율 — 가장 엄격한 기준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862072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62072"/>
            <a:ext cx="1783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Accuracy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2862072"/>
            <a:ext cx="3611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하나하나를 따로 채점한 정답률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666744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666744"/>
            <a:ext cx="1783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F1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3666744"/>
            <a:ext cx="3611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선택 필드의 정밀도·재현율을 종합한 점수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471416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71416"/>
            <a:ext cx="1783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누락률 / 환각률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4471416"/>
            <a:ext cx="3611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말한 것을 빼먹은 비율 / 말하지 않은 것을 지어낸 비율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276088"/>
            <a:ext cx="5760720" cy="694944"/>
          </a:xfrm>
          <a:prstGeom prst="roundRect">
            <a:avLst>
              <a:gd name="adj" fmla="val 1052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76088"/>
            <a:ext cx="17830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성공률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697480" y="5276088"/>
            <a:ext cx="3611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출력이 약속한 형식을 지킨 비율 (전 버전 100%)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1228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오류 5유형 — 틀린 이유까지 분류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12280" y="2057400"/>
            <a:ext cx="47365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22592" y="2267712"/>
            <a:ext cx="274320" cy="274320"/>
          </a:xfrm>
          <a:prstGeom prst="ellipse">
            <a:avLst/>
          </a:prstGeom>
          <a:solidFill>
            <a:srgbClr val="D95B43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2057400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누락 오류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961120" y="2057400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말했는데 결과에 없음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12280" y="2862072"/>
            <a:ext cx="47365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22592" y="3072384"/>
            <a:ext cx="274320" cy="274320"/>
          </a:xfrm>
          <a:prstGeom prst="ellipse">
            <a:avLst/>
          </a:prstGeom>
          <a:solidFill>
            <a:srgbClr val="D95B43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2862072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추론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961120" y="2862072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말하지 않았는데 결과에 있음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12280" y="3666744"/>
            <a:ext cx="47365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2592" y="3877056"/>
            <a:ext cx="274320" cy="274320"/>
          </a:xfrm>
          <a:prstGeom prst="ellipse">
            <a:avLst/>
          </a:prstGeom>
          <a:solidFill>
            <a:srgbClr val="D95B43"/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3666744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오류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961120" y="3666744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맞는 항목을 다른 카테고리로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12280" y="4471416"/>
            <a:ext cx="47365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22592" y="4681728"/>
            <a:ext cx="274320" cy="274320"/>
          </a:xfrm>
          <a:prstGeom prst="ellipse">
            <a:avLst/>
          </a:prstGeom>
          <a:solidFill>
            <a:srgbClr val="D95B43"/>
          </a:solidFill>
          <a:ln/>
        </p:spPr>
      </p:sp>
      <p:sp>
        <p:nvSpPr>
          <p:cNvPr id="35" name="Text 33"/>
          <p:cNvSpPr/>
          <p:nvPr/>
        </p:nvSpPr>
        <p:spPr>
          <a:xfrm>
            <a:off x="7406640" y="4471416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 오류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961120" y="4471416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서술 요약의 의미 왜곡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812280" y="5276088"/>
            <a:ext cx="473659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22592" y="5486400"/>
            <a:ext cx="274320" cy="274320"/>
          </a:xfrm>
          <a:prstGeom prst="ellipse">
            <a:avLst/>
          </a:prstGeom>
          <a:solidFill>
            <a:srgbClr val="D95B43"/>
          </a:solidFill>
          <a:ln/>
        </p:spPr>
      </p:sp>
      <p:sp>
        <p:nvSpPr>
          <p:cNvPr id="39" name="Text 37"/>
          <p:cNvSpPr/>
          <p:nvPr/>
        </p:nvSpPr>
        <p:spPr>
          <a:xfrm>
            <a:off x="7406640" y="5276088"/>
            <a:ext cx="15544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형식 오류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961120" y="5276088"/>
            <a:ext cx="2514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구조·허용값 위반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프롬프트 개선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v0에서 v3까지 — 각 버전에서 무엇을 더했나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지시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“JSON으로 요약하라” 수준의 기본 프롬프트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4617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18688" y="32918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56432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85032" y="2606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필드·허용값 명시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85032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정의, 허용값 목록, 출력 형식을 명시 — 가장 큰 도약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85032" y="4617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60%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72784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BEDE8"/>
          </a:solidFill>
          <a:ln w="12700">
            <a:solidFill>
              <a:srgbClr val="FBE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1384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01384" y="2606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 규칙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01384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“명시 없으면 유보” 규칙 추가 — 오히려 성능 하락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01384" y="4617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35% 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51392" y="329184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089136" y="182880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17736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17736" y="2606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판정 기준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317736" y="32004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증상 변화 판정 기준 등 도메인 규칙 추가 — 최종 선택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17736" y="4617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60% · 누락률 4.1%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모델(gpt-4.1-mini) · 동일 케이스에서 프롬프트만 바꿔 비교 — 변화의 원인을 프롬프트로 특정할 수 있게 통제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결과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세트 20건 — v3를 최종 선택한 근거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943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68680"/>
                <a:gridCol w="868680"/>
                <a:gridCol w="868680"/>
                <a:gridCol w="1143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v3 (최종)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6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Match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Accuracy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 F1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누락률 (낮을수록 좋음)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환각률 (낮을수록 좋음)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 토큰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6,474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F6E6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E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25,394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private/tmp/claude-501/-Users-mac-Documents-Project/a8373b58-9b08-46e3-a566-950532eac7fa/scratchpad/v0v3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645920"/>
            <a:ext cx="4754880" cy="2578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12280" y="42611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버전별 주요 지표 비교 — 개발 세트 (누락률은 낮을수록 좋음)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6812280" y="4590288"/>
            <a:ext cx="4754880" cy="1627632"/>
          </a:xfrm>
          <a:prstGeom prst="roundRect">
            <a:avLst>
              <a:gd name="adj" fmla="val 4494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059168" y="47183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v3인가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059168" y="502920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EM은 v1과 같지만 누락률이 10.2% → 4.1%로 절반 이하. 말한 것을 놓치지 않는 게 최우선인 문진 목적에 부합. 시험 세트에서도 Micro F1 0.912, 방문 형태 정확도 100%.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핵심 배움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규칙을 더했는데 성능이 떨어졌다 — v2의 반전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2697480"/>
          </a:xfrm>
          <a:prstGeom prst="roundRect">
            <a:avLst>
              <a:gd name="adj" fmla="val 2712"/>
            </a:avLst>
          </a:prstGeom>
          <a:solidFill>
            <a:srgbClr val="FBEDE8"/>
          </a:solidFill>
          <a:ln w="12700">
            <a:solidFill>
              <a:srgbClr val="FBE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745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9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pPr indent="0" marL="0">
              <a:buNone/>
            </a:pPr>
            <a:r>
              <a:rPr lang="en-US" sz="30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4800" b="1" dirty="0">
                <a:solidFill>
                  <a:srgbClr val="D95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(필드·허용값 명시)에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 규칙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추가했을 뿐인데 25%p 하락. 환각률도 8.3% → 20.8%로 악화.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03520" cy="2697480"/>
          </a:xfrm>
          <a:prstGeom prst="roundRect">
            <a:avLst>
              <a:gd name="adj" fmla="val 2712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874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있었나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212848"/>
            <a:ext cx="48006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“명시되지 않은 정보는 유보하라”는 규칙이, 번복하고 두서없는 실제 발화에서는 명시된 정보까지 유보하게 만들었다.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안전을 위해 넣은 규칙이 지저분한 입력과 만나자, 있는 정보를 버리는 규칙으로 뒤집힌 것.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70916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70916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교훈 —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추가는 공짜가 아니다. 좋아 보이는 변경도 성능을 깎을 수 있으므로, 모든 프롬프트 변경은 평가 지표로 검증한 뒤 채택한다.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핵심 배움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결과가 설계를 바꾼 세 번의 순간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누수 발견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03580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예시 문장과 평가 케이스가 겹쳐 있던 것을 발견하고 분리. 점수가 좋아 보여도 평가 자체가 오염되면 의미가 없다.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평가의 신뢰성 확보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70832" y="17373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1965960"/>
            <a:ext cx="502920" cy="50292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2606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최다 오류의 정체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45152" y="303580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평가에서 가장 많이 틀린 경계는 '나빠짐 vs 새 증상'. gold 라벨을 만들 때 사람인 나도 고민했던 지점 — 모델 탓이 아니라 분류 체계의 문제.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5152" y="4800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'양상 변화' 중간 카테고리 신설 제안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1584" y="173736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1965960"/>
            <a:ext cx="502920" cy="50292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8375904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75904" y="2606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test의 오분류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375904" y="303580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평가 전 소규모 실행에서 증상 변화 오분류를 발견, 판정 기준을 v3 프롬프트에 반영.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75904" y="48006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v3 도메인 규칙로 반영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좋은 평가는 점수를 매기는 데서 끝나지 않고, 데이터·분류 체계·프롬프트를 고치는 근거가 된다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핵심 배움 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쉬운 세트의 만점은 일반화를 보장하지 않는다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476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파일럿 · 10건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591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방법론 검증용 쉬운 세트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43400" y="17830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85.7% · F1 1.000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863840" y="178308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만점 — 그러나 여기서 멈췄다면?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9900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649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· 개발 20건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37764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사투리·다중 요청·희소 라벨 포함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320040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60% · F1 0.949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863840" y="320040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케이스를 어렵게 만들자 점수 하락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44074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7823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시험 세트 · 10건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51937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개선에 쓰지 않은 미공개 케이스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43400" y="461772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40% · F1 0.912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863840" y="4617720"/>
            <a:ext cx="3383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형태 정확도 100% 유지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점수가 내려간 것 자체가 성과 — 파일럿의 만점이 허상임을 스스로 검증하고, 더 어려운 데이터로 한계를 먼저 드러냈다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안전 설계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“저만 왔어요” — 같은 입력에 다른 답이 나올 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무슨 일이 있었나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단독 내원 케이스(“저만 왔어요”)를 smoke test에서는 맞혔지만, 본 실행에서는 두 차례 모두 틀렸다. 프롬프트도 입력도 같은데 결과가 달라지는 비결정성.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형태는 보호자 단독 시 처방·상담 범위가 달라지는 행정·안전 민감 필드 — 프롬프트만으로는 보장할 수 없다.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5508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설계에 반영한 안전장치 — 이중화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21945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1945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선택값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(신뢰 소스)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98280" y="21945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21945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추출값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(참고)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52360" y="333756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충돌 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32520" y="3246120"/>
            <a:ext cx="457200" cy="502920"/>
          </a:xfrm>
          <a:prstGeom prst="downArrow">
            <a:avLst/>
          </a:prstGeom>
          <a:solidFill>
            <a:srgbClr val="0E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38404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8404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UI에서 사용자가 직접 고른 방문 형태 선택값을 우선 적용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927080" cy="1188720"/>
          </a:xfrm>
          <a:prstGeom prst="roundRect">
            <a:avLst>
              <a:gd name="adj" fmla="val 6154"/>
            </a:avLst>
          </a:prstGeom>
          <a:solidFill>
            <a:srgbClr val="0A3A40"/>
          </a:solidFill>
          <a:ln w="12700">
            <a:solidFill>
              <a:srgbClr val="0A3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8920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기준 —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안전에 민감한 필드는 모델 성능을 올리는 것보다, 모델이 틀려도 시스템이 틀리지 않는 구조를 먼저 설계한다.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프로토타입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문진 UI — 임상 안전망과 입력 부담 사이의 절충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증상 변화는 누구에게나 확인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처방만 받으러 온 재진에서도 '변화 없음'을 확인하는 것 자체가 기록 가치가 있다 — 선택형이라 부담도 낮다.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6858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1012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서술형 입력은 필요할 때만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675888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서술란은 '증상 상담'을 선택한 경우에만 노출. 고령 환자·보호자의 입력 부담을 최소화.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654296"/>
            <a:ext cx="6858000" cy="1325880"/>
          </a:xfrm>
          <a:prstGeom prst="roundRect">
            <a:avLst>
              <a:gd name="adj" fmla="val 5517"/>
            </a:avLst>
          </a:prstGeom>
          <a:solidFill>
            <a:srgbClr val="EDF5F4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9145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형태는 UI 선택값이 기준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5157216"/>
            <a:ext cx="6355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비결정성 이슈가 확인된 필드는 LLM 추출값 대신 사용자가 고른 선택값을 신뢰 소스로 사용.</a:t>
            </a:r>
            <a:endParaRPr lang="en-US" sz="1200" dirty="0"/>
          </a:p>
        </p:txBody>
      </p:sp>
      <p:pic>
        <p:nvPicPr>
          <p:cNvPr id="13" name="Image 0" descr="/private/tmp/claude-501/-Users-mac-Documents-Project/a8373b58-9b08-46e3-a566-950532eac7fa/scratchpad/ui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17320"/>
            <a:ext cx="3246120" cy="47000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863840" y="61722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프로토타입 (서버 없음)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실험 관리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호출을 추적하고, 재호출 없이 비교한다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호출 트레이싱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사용량 · 지연시간 · 프롬프트 원문까지 LangSmith에 기록 — “왜 이 답이 나왔나”를 언제든 역추적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172968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310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버전별 실험 기록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6758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데이터셋 opd-intake-dev에 v0~v3 실험 4개를 등록해 대시보드에서 나란히 비교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654296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9145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의식적 설계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14400" y="5157216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저장된 예측을 재사용해 API 재호출 없이 실험 기록 — 같은 결과에 두 번 비용을 쓰지 않는다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AFCFC"/>
          </a:solidFill>
          <a:ln w="19050">
            <a:solidFill>
              <a:srgbClr val="0E6B6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172200" y="3108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스크린샷 자리 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3611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실험 비교 화면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smith.langchain.com → Datasets &amp; Experiments → opd-intake-dev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다음 단계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다음에 무엇을 검증해야 하는지 알고 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965960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증상 변화 분류 체계 개선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73736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'양상 변화 있음' 중간 카테고리 신설 검토 — 라벨·프롬프트·UI를 함께 수정해야 하는 변경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044952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3044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81635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 오류의 규칙화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81635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'서류 발급 vs 검사결과 확인' 혼동이 두 실행에서 반복 — 구분 규칙을 다음 프롬프트 과제로 기록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95344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EDF5F4"/>
          </a:solidFill>
          <a:ln w="12700">
            <a:solidFill>
              <a:srgbClr val="EDF5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123944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895344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 오류의 정량화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895344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서술 필드는 자동 채점이 어려움 — LLM-as-judge 도입 검토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974336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202936"/>
            <a:ext cx="457200" cy="457200"/>
          </a:xfrm>
          <a:prstGeom prst="ellipse">
            <a:avLst/>
          </a:prstGeom>
          <a:solidFill>
            <a:srgbClr val="0E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5202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54480" y="4974336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030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형태 안전장치 구현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4974336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 기반 후처리 또는 UI 선택값 우선 정책을 실제 코드로 구현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실험은 의도적으로 보류 — 분류 체계 문제를 프롬프트 수정만으로 덮지 않기 위해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프로젝트로 보여드리고 싶은 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0F4A50"/>
          </a:solidFill>
          <a:ln w="12700">
            <a:solidFill>
              <a:srgbClr val="1E60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8308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현장에서 문제를 정의한다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178308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외래 간호사로 매일 겪은 네 가지 문제에서 출발 — 기술이 아니라 문제가 먼저였다.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0F4A50"/>
          </a:solidFill>
          <a:ln w="12700">
            <a:solidFill>
              <a:srgbClr val="1E60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01752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숫자로 의사결정한다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301752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인상이 아니라 Exact Match · Micro F1 · 누락률로 버전을 선택하고, 평가 체계 자체를 직접 설계했다.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0F4A50"/>
          </a:solidFill>
          <a:ln w="12700">
            <a:solidFill>
              <a:srgbClr val="1E60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251960"/>
            <a:ext cx="3291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6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실패를 설계에 반영한다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6583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v2의 성능 하락과 비결정성 문제를 감추지 않고, 안전장치와 다음 과제로 연결했다.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6692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BFD9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“모델이 무엇을 할 수 있는지보다, 어디까지 믿어도 되는지를 확인하는 것 —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BFD9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그것이 헬스케어에서 AI를 다루는 PM의 일이라고 생각합니다.”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2026-07-10T04:32:12Z</dcterms:created>
  <dcterms:modified xsi:type="dcterms:W3CDTF">2026-07-10T04:32:12Z</dcterms:modified>
</cp:coreProperties>
</file>