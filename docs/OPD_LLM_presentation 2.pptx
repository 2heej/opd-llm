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88950"/>
  <p:notesSz cx="6858000" cy="12188950"/>
  <p:embeddedFontLst>
    <p:embeddedFont>
      <p:font typeface="IBM Plex Sans KR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q3/JrIHBBdhv9rBi/cLvlWFcZ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563FAB-E905-4456-9605-835759A8CCEC}">
  <a:tblStyle styleId="{CA563FAB-E905-4456-9605-835759A8CCE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IBMPlexSansKR-bold.fntdata"/><Relationship Id="rId10" Type="http://schemas.openxmlformats.org/officeDocument/2006/relationships/slide" Target="slides/slide5.xml"/><Relationship Id="rId21" Type="http://schemas.openxmlformats.org/officeDocument/2006/relationships/font" Target="fonts/IBMPlexSansKR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846349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400"/>
              <a:buFont typeface="Arial"/>
              <a:buNone/>
            </a:pPr>
            <a:r>
              <a:rPr b="1" lang="en-US" sz="1600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LLM </a:t>
            </a:r>
            <a:r>
              <a:rPr b="1" i="0" lang="en-US" sz="16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프롬프트 평가 프로젝트_</a:t>
            </a:r>
            <a:r>
              <a:rPr b="1" lang="en-US" sz="1600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이희진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1257829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신경과 재진 외래 AI 문진</a:t>
            </a:r>
            <a:endParaRPr i="0" sz="4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2263669"/>
            <a:ext cx="9601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FD9D7"/>
              </a:buClr>
              <a:buSzPts val="1700"/>
              <a:buFont typeface="Arial"/>
              <a:buNone/>
            </a:pPr>
            <a:r>
              <a:rPr lang="en-US" sz="1800">
                <a:solidFill>
                  <a:srgbClr val="BFD9D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진료 전 </a:t>
            </a:r>
            <a:r>
              <a:rPr i="0" lang="en-US" sz="1800" u="none" cap="none" strike="noStrike">
                <a:solidFill>
                  <a:srgbClr val="BFD9D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환자의 말을 구조화된 SOAP 요약으로 —</a:t>
            </a:r>
            <a:endParaRPr i="0" sz="18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FD9D7"/>
              </a:buClr>
              <a:buSzPts val="1700"/>
              <a:buFont typeface="Arial"/>
              <a:buNone/>
            </a:pPr>
            <a:r>
              <a:rPr i="0" lang="en-US" sz="1800" u="none" cap="none" strike="noStrike">
                <a:solidFill>
                  <a:srgbClr val="BFD9D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LLM 프롬프트 v0~v3를 직접 설계하고 지표로 평가해 선택한 과정</a:t>
            </a:r>
            <a:endParaRPr i="0" sz="18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416052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0F4A50"/>
          </a:solidFill>
          <a:ln cap="flat" cmpd="sng" w="12700">
            <a:solidFill>
              <a:srgbClr val="1E60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51560" y="4315968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1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30</a:t>
            </a:r>
            <a:endParaRPr i="0" sz="4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51560" y="5010912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직접 검수한 합성 케이스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(개발 20 · 시험 10)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480560" y="416052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0F4A50"/>
          </a:solidFill>
          <a:ln cap="flat" cmpd="sng" w="12700">
            <a:solidFill>
              <a:srgbClr val="1E60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709160" y="4315968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1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4</a:t>
            </a:r>
            <a:endParaRPr i="0" sz="4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709160" y="5010912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비교 평가한 프롬프트 버전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(v0 → v3)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138160" y="4160520"/>
            <a:ext cx="3291840" cy="1600200"/>
          </a:xfrm>
          <a:prstGeom prst="roundRect">
            <a:avLst>
              <a:gd fmla="val 4571" name="adj"/>
            </a:avLst>
          </a:prstGeom>
          <a:solidFill>
            <a:srgbClr val="0F4A50"/>
          </a:solidFill>
          <a:ln cap="flat" cmpd="sng" w="12700">
            <a:solidFill>
              <a:srgbClr val="1E60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366760" y="4315968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1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0.949</a:t>
            </a:r>
            <a:endParaRPr i="0" sz="4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366760" y="5010912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최종 프롬프트 Micro F1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(개발 세트 기준)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01 · 문제 정의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외래 접수 현장에서 매일 마주치던 문제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1600200"/>
            <a:ext cx="5349240" cy="1600200"/>
          </a:xfrm>
          <a:prstGeom prst="roundRect">
            <a:avLst>
              <a:gd fmla="val 4571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1892808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1892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</a:t>
            </a:r>
            <a:endParaRPr i="0" sz="1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554480" y="180136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정보 누락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485102" y="2167125"/>
            <a:ext cx="443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5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방문 목적이 진료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실에 가서야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드러난다.</a:t>
            </a:r>
            <a:b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미리 해결 가능한 문제도 있음에도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진료 시간이 소모된다.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72200" y="1600200"/>
            <a:ext cx="5349240" cy="1600200"/>
          </a:xfrm>
          <a:prstGeom prst="roundRect">
            <a:avLst>
              <a:gd fmla="val 4571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46520" y="1892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</a:t>
            </a:r>
            <a:endParaRPr i="0" sz="1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086600" y="180136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서류 요청 지연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017227" y="2167125"/>
            <a:ext cx="443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5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진단서·소견서 요청이 진료가 끝난 뒤에 나온다.</a:t>
            </a:r>
            <a:endParaRPr>
              <a:solidFill>
                <a:srgbClr val="5F6E6E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5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환자는 다시 대기하고, 업무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를 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두 번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해야하는 일이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발생한다.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3383280"/>
            <a:ext cx="5349240" cy="1600200"/>
          </a:xfrm>
          <a:prstGeom prst="roundRect">
            <a:avLst>
              <a:gd fmla="val 4571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14400" y="3675888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14400" y="36758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3</a:t>
            </a:r>
            <a:endParaRPr i="0" sz="1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554480" y="35844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보호자 단독 내원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85102" y="3950200"/>
            <a:ext cx="443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5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환자 없이 보호자만 온 경우 처방·상담 범위가 달라진다.</a:t>
            </a:r>
            <a:b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 사실이 늦게 확인되면 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행정 절차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문제로 이어진다.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172200" y="3383280"/>
            <a:ext cx="5349240" cy="1600200"/>
          </a:xfrm>
          <a:prstGeom prst="roundRect">
            <a:avLst>
              <a:gd fmla="val 4571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46520" y="3675888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46520" y="36758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4</a:t>
            </a:r>
            <a:endParaRPr i="0" sz="1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086600" y="35844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상담 내용 누락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017227" y="3950200"/>
            <a:ext cx="443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5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환자가 털어놓은 이야기가 기록으로 이어지지 못하고,</a:t>
            </a:r>
            <a:b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다음 진료에서 같은 설명이 반복된다.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fmla="val 8421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60120" y="534924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검증 질문</a:t>
            </a:r>
            <a:r>
              <a:rPr b="1" lang="en-US" sz="1500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:</a:t>
            </a:r>
            <a:r>
              <a:rPr b="1" i="0" lang="en-US" sz="15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i="0" lang="en-US" sz="15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진료 전 문진 발화를 LLM으로 요약하면 이 문제들을 완화할 수 있는가? (서비스 구축이 아닌 프롬프트 설계·평가가 목적)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02 · 프로젝트 범위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서비스를 만드는 </a:t>
            </a:r>
            <a:r>
              <a:rPr b="1" lang="en-US" sz="27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것보다</a:t>
            </a: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프롬프트 설계와 평가 검증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1645920"/>
            <a:ext cx="5029200" cy="1828800"/>
          </a:xfrm>
          <a:prstGeom prst="roundRect">
            <a:avLst>
              <a:gd fmla="val 4000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14400" y="181051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500"/>
              <a:buFont typeface="Arial"/>
              <a:buNone/>
            </a:pPr>
            <a:r>
              <a:rPr b="1" i="0" lang="en-US" sz="19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하는 것</a:t>
            </a:r>
            <a:endParaRPr i="0" sz="19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14400" y="2139696"/>
            <a:ext cx="4526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300"/>
              <a:buFont typeface="Arial"/>
              <a:buNone/>
            </a:pPr>
            <a:r>
              <a:rPr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치매 · 파킨슨병 · 뇌전증 재진 환자의 문진 발화를 구조화 JSON + SOAP 요약으로 변환하는 프롬프트를 설계하고, 버전별 성능을 정량 평가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3703320"/>
            <a:ext cx="50292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14400" y="386791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500"/>
              <a:buFont typeface="Arial"/>
              <a:buNone/>
            </a:pPr>
            <a:r>
              <a:rPr b="1" i="0" lang="en-US" sz="19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하지 않는 것</a:t>
            </a:r>
            <a:endParaRPr i="0" sz="19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14400" y="4197096"/>
            <a:ext cx="4526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300"/>
              <a:buFont typeface="Arial"/>
              <a:buNone/>
            </a:pPr>
            <a:r>
              <a:rPr i="0" lang="en-US" sz="15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실서버 연동, 실제 환자 데이터 사용, 진단·치료 판단 생성</a:t>
            </a:r>
            <a:endParaRPr i="0" sz="1500" u="none" cap="none" strike="noStrike">
              <a:solidFill>
                <a:srgbClr val="5F6E6E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300"/>
              <a:buFont typeface="Arial"/>
              <a:buNone/>
            </a:pPr>
            <a:r>
              <a:rPr i="0" lang="en-US" sz="15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en-US" sz="150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5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문진 단계의 정보 구조화에만 집중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172200" y="1645920"/>
            <a:ext cx="5394900" cy="841200"/>
          </a:xfrm>
          <a:prstGeom prst="roundRect">
            <a:avLst>
              <a:gd fmla="val 869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55080" y="1645920"/>
            <a:ext cx="868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입력</a:t>
            </a:r>
            <a:endParaRPr i="0" sz="18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219923" y="1645925"/>
            <a:ext cx="42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환자·보호자 발화 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혹은 입력</a:t>
            </a:r>
            <a:endParaRPr sz="1300">
              <a:solidFill>
                <a:srgbClr val="20302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(사투리, 번복, 다중 요청 포함 합성 케이스 30건)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686800" y="24323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900"/>
              <a:buFont typeface="Arial"/>
              <a:buNone/>
            </a:pPr>
            <a:r>
              <a:rPr i="0" lang="en-US" sz="10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▼</a:t>
            </a:r>
            <a:endParaRPr i="0" sz="1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172200" y="2633472"/>
            <a:ext cx="5394900" cy="841200"/>
          </a:xfrm>
          <a:prstGeom prst="roundRect">
            <a:avLst>
              <a:gd fmla="val 869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355080" y="2633472"/>
            <a:ext cx="868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LLM</a:t>
            </a:r>
            <a:endParaRPr i="0" sz="18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219923" y="2633475"/>
            <a:ext cx="42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gpt-4.1-mini + 프롬프트 v0~v3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(동일 모델, 프롬프트만 변경)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686800" y="3419856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900"/>
              <a:buFont typeface="Arial"/>
              <a:buNone/>
            </a:pPr>
            <a:r>
              <a:rPr i="0" lang="en-US" sz="10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▼</a:t>
            </a:r>
            <a:endParaRPr i="0" sz="1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72200" y="3621024"/>
            <a:ext cx="5394900" cy="841200"/>
          </a:xfrm>
          <a:prstGeom prst="roundRect">
            <a:avLst>
              <a:gd fmla="val 869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355080" y="3621024"/>
            <a:ext cx="868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출력</a:t>
            </a:r>
            <a:endParaRPr i="0" sz="18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219923" y="3621025"/>
            <a:ext cx="42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구조화 JSON</a:t>
            </a:r>
            <a:endParaRPr i="0" sz="1300" u="none" cap="none" strike="noStrike">
              <a:solidFill>
                <a:srgbClr val="20302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방문 목적·서류·방문 형태 등 8개 필드 + SOAP 요약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686800" y="440740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900"/>
              <a:buFont typeface="Arial"/>
              <a:buNone/>
            </a:pPr>
            <a:r>
              <a:rPr i="0" lang="en-US" sz="10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▼</a:t>
            </a:r>
            <a:endParaRPr i="0" sz="1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172200" y="4608576"/>
            <a:ext cx="5394900" cy="841200"/>
          </a:xfrm>
          <a:prstGeom prst="roundRect">
            <a:avLst>
              <a:gd fmla="val 8696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355080" y="4608576"/>
            <a:ext cx="868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평가</a:t>
            </a:r>
            <a:endParaRPr i="0" sz="18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219923" y="4608575"/>
            <a:ext cx="42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Exact Match · Field Accuracy · Micro F1 · 누락률 · 환각률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산출물:  평가 노트북 · 합성 케이스 30건 + gold 라벨 · 프롬프트 4버전 · 문진 UI 프로토타입 · LangSmith 실험 기록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03 · 데이터 설계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현장에서 들리는 말</a:t>
            </a:r>
            <a:r>
              <a:rPr b="1" lang="en-US" sz="27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처럼 비식별 합성 케이스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" y="1645920"/>
            <a:ext cx="4206240" cy="4480560"/>
          </a:xfrm>
          <a:prstGeom prst="roundRect">
            <a:avLst>
              <a:gd fmla="val 1739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60120" y="182880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5400"/>
              <a:buFont typeface="Arial"/>
              <a:buNone/>
            </a:pPr>
            <a:r>
              <a:rPr b="1" i="0" lang="en-US" sz="55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30</a:t>
            </a:r>
            <a:endParaRPr i="0" sz="5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60120" y="26517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비식별 합성 케이스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60120" y="310896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5100" lvl="0" marL="152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IBM Plex Sans KR"/>
              <a:buChar char="•"/>
            </a:pPr>
            <a:r>
              <a:rPr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개발 20건 / 시험 10건 분리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165100" lvl="0" marL="1524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IBM Plex Sans KR"/>
              <a:buChar char="•"/>
            </a:pPr>
            <a:r>
              <a:rPr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치매 · 파킨슨병 · 뇌전증 각 10건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165100" lvl="0" marL="1524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IBM Plex Sans KR"/>
              <a:buChar char="•"/>
            </a:pPr>
            <a:r>
              <a:rPr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모든 gold 라벨을 직접 검토·확정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-165100" lvl="0" marL="152400" marR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IBM Plex Sans KR"/>
              <a:buChar char="•"/>
            </a:pPr>
            <a:r>
              <a:rPr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간호 경험 기반으로 실제 접수 상황을 재현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257800" y="169164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'지저분한 발화'를 일부러 포함</a:t>
            </a:r>
            <a:endParaRPr i="0" sz="18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257800" y="2148840"/>
            <a:ext cx="30175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58968" y="225856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사투리·구어체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58968" y="2551176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00"/>
              <a:buFont typeface="Arial"/>
              <a:buNone/>
            </a:pPr>
            <a:r>
              <a:rPr i="0" lang="en-US" sz="12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표준 문장이 아닌 실제 말투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458200" y="2148840"/>
            <a:ext cx="30175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659368" y="225856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말 번복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659368" y="2551176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00"/>
              <a:buFont typeface="Arial"/>
              <a:buNone/>
            </a:pPr>
            <a:r>
              <a:rPr i="0" lang="en-US" sz="12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“지지난 주였나, 아니 지난주다”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257800" y="3108960"/>
            <a:ext cx="30175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58968" y="32186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다중 요청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58968" y="3511296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00"/>
              <a:buFont typeface="Arial"/>
              <a:buNone/>
            </a:pPr>
            <a:r>
              <a:rPr i="0" lang="en-US" sz="12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결과 확인 + 서류 + 상담을 한 번에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458200" y="3108960"/>
            <a:ext cx="30175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8659368" y="32186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퉁명한 한 줄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659368" y="3511296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00"/>
              <a:buFont typeface="Arial"/>
              <a:buNone/>
            </a:pPr>
            <a:r>
              <a:rPr i="0" lang="en-US" sz="12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“약 타러요.” 같은 최소 발화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257800" y="4206240"/>
            <a:ext cx="6263640" cy="1920240"/>
          </a:xfrm>
          <a:prstGeom prst="roundRect">
            <a:avLst>
              <a:gd fmla="val 3810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532120" y="437083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케이스 예시 (뇌전증, case_025)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532120" y="4681728"/>
            <a:ext cx="57150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i="1" lang="en-US" sz="15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“지지난 주였나, 아니 지난주다. 새벽에 애가 발작을 했어요.</a:t>
            </a:r>
            <a:endParaRPr i="1" sz="1500">
              <a:solidFill>
                <a:srgbClr val="FFFFF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i="1" lang="en-US" sz="15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근데 이번엔 좀 길었어요, 평소엔 금방 끝났는데. 그래서 그거 여쭤보러 왔고, 아 맞다 어린이집에 낼 진단서도 필요해요. 애랑 같이 왔어요.”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04 · 평가 설계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느낌이 아</a:t>
            </a:r>
            <a:r>
              <a:rPr b="1" lang="en-US" sz="27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닌</a:t>
            </a: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지표로 버전을 비교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정량 지표 </a:t>
            </a:r>
            <a:r>
              <a:rPr b="1" lang="en-US" sz="16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 </a:t>
            </a: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필드 단위 자동 채점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40080" y="2057400"/>
            <a:ext cx="5760720" cy="694944"/>
          </a:xfrm>
          <a:prstGeom prst="roundRect">
            <a:avLst>
              <a:gd fmla="val 1052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68680" y="2057400"/>
            <a:ext cx="17830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Exact Match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586625" y="2057400"/>
            <a:ext cx="372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 케이스의 모든 필드가 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전부</a:t>
            </a: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정답인 비율 (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가장 엄격)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40080" y="2862072"/>
            <a:ext cx="5760720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68680" y="2862072"/>
            <a:ext cx="17830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Field Accuracy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586625" y="2862071"/>
            <a:ext cx="372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필드 하나하나를 따로 채점한 정답률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080" y="3666744"/>
            <a:ext cx="5760720" cy="694944"/>
          </a:xfrm>
          <a:prstGeom prst="roundRect">
            <a:avLst>
              <a:gd fmla="val 1052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68680" y="3666744"/>
            <a:ext cx="17830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Micro F1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586625" y="3666741"/>
            <a:ext cx="372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다중 선택 필드의 정밀도·재현율을 종합한 점수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" y="4471416"/>
            <a:ext cx="5760720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68680" y="4471416"/>
            <a:ext cx="17830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누락률 / 환각률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586625" y="4471412"/>
            <a:ext cx="372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말한 것을 빼먹은 비율 / 말하지 않은 것을 지어낸 비율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40080" y="5276088"/>
            <a:ext cx="5760720" cy="694944"/>
          </a:xfrm>
          <a:prstGeom prst="roundRect">
            <a:avLst>
              <a:gd fmla="val 1052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68680" y="5276088"/>
            <a:ext cx="17830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JSON 성공률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586625" y="5276082"/>
            <a:ext cx="3722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출력이 약속한 형식을 지킨 비율 (전 버전 100%)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812280" y="16002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오류 5유형 </a:t>
            </a:r>
            <a:r>
              <a:rPr b="1" lang="en-US" sz="16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 </a:t>
            </a: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틀린 이유 분류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812280" y="2057400"/>
            <a:ext cx="4736592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022592" y="2267712"/>
            <a:ext cx="274320" cy="274320"/>
          </a:xfrm>
          <a:prstGeom prst="ellipse">
            <a:avLst/>
          </a:prstGeom>
          <a:solidFill>
            <a:srgbClr val="D95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406640" y="2057400"/>
            <a:ext cx="1554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누락 오류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961120" y="2057400"/>
            <a:ext cx="2514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말했는데 결과에 없음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812280" y="2862072"/>
            <a:ext cx="4736592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022592" y="3072384"/>
            <a:ext cx="274320" cy="274320"/>
          </a:xfrm>
          <a:prstGeom prst="ellipse">
            <a:avLst/>
          </a:prstGeom>
          <a:solidFill>
            <a:srgbClr val="D95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406640" y="2862072"/>
            <a:ext cx="1554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과잉 추론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961120" y="2862072"/>
            <a:ext cx="2514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말하지 않았는데 결과에 있음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812280" y="3666744"/>
            <a:ext cx="4736592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022592" y="3877056"/>
            <a:ext cx="274320" cy="274320"/>
          </a:xfrm>
          <a:prstGeom prst="ellipse">
            <a:avLst/>
          </a:prstGeom>
          <a:solidFill>
            <a:srgbClr val="D95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406640" y="3666744"/>
            <a:ext cx="1554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분류 오류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961120" y="3666744"/>
            <a:ext cx="2514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맞는 항목을 다른 카테고리로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12280" y="4471416"/>
            <a:ext cx="4736592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022592" y="4681728"/>
            <a:ext cx="274320" cy="274320"/>
          </a:xfrm>
          <a:prstGeom prst="ellipse">
            <a:avLst/>
          </a:prstGeom>
          <a:solidFill>
            <a:srgbClr val="D95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406640" y="4471416"/>
            <a:ext cx="1554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표현 오류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961120" y="4471416"/>
            <a:ext cx="2514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자유 서술 요약의 의미 왜곡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812280" y="5276088"/>
            <a:ext cx="4736592" cy="694944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022592" y="5486400"/>
            <a:ext cx="274320" cy="274320"/>
          </a:xfrm>
          <a:prstGeom prst="ellipse">
            <a:avLst/>
          </a:prstGeom>
          <a:solidFill>
            <a:srgbClr val="D95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406640" y="5276088"/>
            <a:ext cx="1554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형식 오류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961120" y="5276088"/>
            <a:ext cx="2514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JSON 구조·허용값 위반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05 · 프롬프트 개선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v0에서 v3까지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fmla="val 2807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68680" y="201168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3000"/>
              <a:buFont typeface="Arial"/>
              <a:buNone/>
            </a:pPr>
            <a:r>
              <a:rPr b="1" i="0" lang="en-US" sz="31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v0</a:t>
            </a:r>
            <a:endParaRPr i="0" sz="3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68680" y="260604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최소 지시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68680" y="320040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5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“JSON으로 요약하라” 수준의 기본 프롬프트</a:t>
            </a:r>
            <a:endParaRPr i="0" sz="13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68680" y="46177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 5%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406880" y="1828800"/>
            <a:ext cx="2606100" cy="3566100"/>
          </a:xfrm>
          <a:prstGeom prst="roundRect">
            <a:avLst>
              <a:gd fmla="val 2807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35480" y="2011680"/>
            <a:ext cx="210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3000"/>
              <a:buFont typeface="Arial"/>
              <a:buNone/>
            </a:pPr>
            <a:r>
              <a:rPr b="1" i="0" lang="en-US" sz="31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v1</a:t>
            </a:r>
            <a:endParaRPr i="0" sz="3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635480" y="2606040"/>
            <a:ext cx="219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필드·허용값 명시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635480" y="3200400"/>
            <a:ext cx="2194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5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필드 정의, 허용값 목록, 출력 형식을 명시 </a:t>
            </a:r>
            <a:r>
              <a:rPr lang="en-US" sz="135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35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가장 큰 도약</a:t>
            </a:r>
            <a:endParaRPr i="0" sz="13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635480" y="461772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 60%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173680" y="1828800"/>
            <a:ext cx="2606100" cy="3566100"/>
          </a:xfrm>
          <a:prstGeom prst="roundRect">
            <a:avLst>
              <a:gd fmla="val 2807" name="adj"/>
            </a:avLst>
          </a:prstGeom>
          <a:solidFill>
            <a:srgbClr val="FBEDE8"/>
          </a:solidFill>
          <a:ln cap="flat" cmpd="sng" w="12700">
            <a:solidFill>
              <a:srgbClr val="FBE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402280" y="2011680"/>
            <a:ext cx="210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3000"/>
              <a:buFont typeface="Arial"/>
              <a:buNone/>
            </a:pPr>
            <a:r>
              <a:rPr b="1" i="0" lang="en-US" sz="31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v2</a:t>
            </a:r>
            <a:endParaRPr i="0" sz="3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02280" y="2606040"/>
            <a:ext cx="219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불확실성 규칙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402280" y="3200400"/>
            <a:ext cx="2194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5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“명시 없으면 유보” 규칙 추가 </a:t>
            </a:r>
            <a:r>
              <a:rPr lang="en-US" sz="135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35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오히려 성능 하락</a:t>
            </a:r>
            <a:endParaRPr i="0" sz="13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02280" y="461772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B43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D95B4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 35% ▼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940480" y="1828800"/>
            <a:ext cx="2606100" cy="3566100"/>
          </a:xfrm>
          <a:prstGeom prst="roundRect">
            <a:avLst>
              <a:gd fmla="val 2807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169080" y="2011680"/>
            <a:ext cx="210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3000"/>
              <a:buFont typeface="Arial"/>
              <a:buNone/>
            </a:pPr>
            <a:r>
              <a:rPr b="1" i="0" lang="en-US" sz="31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v3</a:t>
            </a:r>
            <a:endParaRPr i="0" sz="3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169080" y="2606040"/>
            <a:ext cx="2194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도메인 판정 기준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169080" y="3200400"/>
            <a:ext cx="2194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150"/>
              <a:buFont typeface="Arial"/>
              <a:buNone/>
            </a:pPr>
            <a:r>
              <a:rPr i="0" lang="en-US" sz="135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증상 변화 판정 기준 등 도메인 규칙 추가 </a:t>
            </a:r>
            <a:r>
              <a:rPr lang="en-US" sz="1350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35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최종 선택</a:t>
            </a:r>
            <a:endParaRPr i="0" sz="13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9169080" y="4617720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 60% · 누락률 4.1%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5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동일 모델(gpt-4.1-mini) · 동일 케이스에서 프롬프트만 바꿔 비교 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변화의 원인을 프롬프트로 특정할 수 있게 통제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06 · 결과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개발 세트 20건 — v3를 최종 선택한 근거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graphicFrame>
        <p:nvGraphicFramePr>
          <p:cNvPr id="192" name="Google Shape;192;p7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{CA563FAB-E905-4456-9605-835759A8CCEC}</a:tableStyleId>
              </a:tblPr>
              <a:tblGrid>
                <a:gridCol w="2194550"/>
                <a:gridCol w="868675"/>
                <a:gridCol w="868675"/>
                <a:gridCol w="868675"/>
                <a:gridCol w="11430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지표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v0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v1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v2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v3 (최종)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6B6B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02F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0302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Exact Match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5%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60%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35%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6B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E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60%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02F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0302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Field Accuracy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38.3%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90.0%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80.0%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6B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E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90.8%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02F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0302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Micro F1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0.698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0.907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0.824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6B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E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0.949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02F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0302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누락률 (낮을수록 좋음)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38.8%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10.2%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14.3%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6B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E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4.1%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02F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0302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환각률 (낮을수록 좋음)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18.9%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8.3%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20.8%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6B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E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6.0%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5F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02F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0302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입력 토큰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6,474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13,214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E6E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5F6E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15,814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6B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E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25,394</a:t>
                      </a:r>
                      <a:endParaRPr sz="1300" u="none" cap="none" strike="noStrike"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private/tmp/claude-501/-Users-mac-Documents-Project/a8373b58-9b08-46e3-a566-950532eac7fa/scratchpad/v0v3_chart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1645920"/>
            <a:ext cx="4754880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6812280" y="426110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000"/>
              <a:buFont typeface="Arial"/>
              <a:buNone/>
            </a:pPr>
            <a:r>
              <a:rPr i="1" lang="en-US" sz="11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버전별 주요 지표 비교 — 개발 세트 (누락률은 낮을수록 좋음)</a:t>
            </a:r>
            <a:endParaRPr i="0" sz="1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812280" y="4590288"/>
            <a:ext cx="4754880" cy="1627632"/>
          </a:xfrm>
          <a:prstGeom prst="roundRect">
            <a:avLst>
              <a:gd fmla="val 4494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059168" y="4767856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왜 v3인가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059168" y="5029200"/>
            <a:ext cx="42976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2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EM은 v1과 같지만 누락률이 10.2% → 4.1%로 절반 이하. 말한 것을 놓치지 않는 게 최우선인 문진 목적에 부합. 시험 세트에서도 Micro F1 0.912, 방문 형태 정확도 100%.</a:t>
            </a:r>
            <a:endParaRPr i="0" sz="12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07 · 핵심 배움 ①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규칙을 더했는데 성능이 떨어졌다 — v2의 반전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40080" y="1691640"/>
            <a:ext cx="5120640" cy="2697480"/>
          </a:xfrm>
          <a:prstGeom prst="roundRect">
            <a:avLst>
              <a:gd fmla="val 2712" name="adj"/>
            </a:avLst>
          </a:prstGeom>
          <a:solidFill>
            <a:srgbClr val="FBEDE8"/>
          </a:solidFill>
          <a:ln cap="flat" cmpd="sng" w="12700">
            <a:solidFill>
              <a:srgbClr val="FBE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60120" y="18745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B43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D95B4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Exact Match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60120" y="219456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4800"/>
              <a:buFont typeface="Arial"/>
              <a:buNone/>
            </a:pPr>
            <a:r>
              <a:rPr b="1" i="0" lang="en-US" sz="49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60%</a:t>
            </a:r>
            <a:r>
              <a:rPr i="0" lang="en-US" sz="31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 →  </a:t>
            </a:r>
            <a:r>
              <a:rPr b="1" i="0" lang="en-US" sz="4900" u="none" cap="none" strike="noStrike">
                <a:solidFill>
                  <a:srgbClr val="D95B43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35%</a:t>
            </a:r>
            <a:endParaRPr i="0" sz="49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60120" y="324612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350"/>
              <a:buFont typeface="Arial"/>
              <a:buNone/>
            </a:pPr>
            <a:r>
              <a:rPr b="1"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v1</a:t>
            </a:r>
            <a:r>
              <a:rPr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(필드·허용값 명시)에 </a:t>
            </a:r>
            <a:r>
              <a:rPr b="1"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불확실성 규칙</a:t>
            </a:r>
            <a:r>
              <a:rPr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만 추가했을 뿐인데 25%p 하락. 환각률도 8.3% → 20.8%로 악화.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263640" y="1691640"/>
            <a:ext cx="5303520" cy="2697480"/>
          </a:xfrm>
          <a:prstGeom prst="roundRect">
            <a:avLst>
              <a:gd fmla="val 2712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537960" y="18745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무슨 일이 있었나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537960" y="2212848"/>
            <a:ext cx="4800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350"/>
              <a:buFont typeface="Arial"/>
              <a:buNone/>
            </a:pPr>
            <a:r>
              <a:rPr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“명시되지 않은 정보는 유보하라”는 규칙이, 번복하고 두서없는 실제 발화에서는 명시된 정보까지 유보하게 만들었다.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350"/>
              <a:buFont typeface="Arial"/>
              <a:buNone/>
            </a:pPr>
            <a:r>
              <a:rPr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안전을 위해 넣은 규칙이 지저분한 입력과 만나자,</a:t>
            </a:r>
            <a:br>
              <a:rPr lang="en-US" sz="145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i="0" lang="en-US" sz="14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있는 정보를 버리는 규칙으로 뒤집힌 것.</a:t>
            </a:r>
            <a:endParaRPr i="0" sz="14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40080" y="4709160"/>
            <a:ext cx="10927080" cy="1371600"/>
          </a:xfrm>
          <a:prstGeom prst="roundRect">
            <a:avLst>
              <a:gd fmla="val 5333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005840" y="470916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교훈 </a:t>
            </a:r>
            <a:r>
              <a:rPr b="1" lang="en-US" sz="1600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b="1" i="0" lang="en-US" sz="16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규칙</a:t>
            </a:r>
            <a:r>
              <a:rPr lang="en-US" sz="16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을 더한다고 항상 좋아지는 것은</a:t>
            </a:r>
            <a:r>
              <a:rPr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아니다.</a:t>
            </a:r>
            <a:br>
              <a:rPr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좋아 보이는 변경도 성능을 깎을 수 있으므로, 모든 프롬프트 변경은 평가 지표로 검증한 뒤 채택한다.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08 · 핵심 배움 ②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평가 결과가 설계를 바꾼 세 번의 순간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40080" y="1737360"/>
            <a:ext cx="3520440" cy="3657600"/>
          </a:xfrm>
          <a:prstGeom prst="roundRect">
            <a:avLst>
              <a:gd fmla="val 2078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</a:t>
            </a:r>
            <a:endParaRPr i="0" sz="19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14400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50"/>
              <a:buFont typeface="Arial"/>
              <a:buNone/>
            </a:pPr>
            <a:r>
              <a:rPr b="1" i="0" lang="en-US" sz="16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데이터 누수 발견</a:t>
            </a:r>
            <a:endParaRPr i="0" sz="16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14400" y="3035808"/>
            <a:ext cx="3017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프롬프트 예시 문장과 평가 케이스가 겹쳐 있던 것을 발견하고 분리. 점수가 좋아 보여도 평가 자체가 오염되면 의미가 없다.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914400" y="48006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→ 평가의 신뢰성 확보</a:t>
            </a:r>
            <a:endParaRPr i="0" sz="13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370832" y="1737360"/>
            <a:ext cx="3520440" cy="3657600"/>
          </a:xfrm>
          <a:prstGeom prst="roundRect">
            <a:avLst>
              <a:gd fmla="val 2078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645152" y="1965960"/>
            <a:ext cx="502920" cy="50292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645152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</a:t>
            </a:r>
            <a:endParaRPr i="0" sz="19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645152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50"/>
              <a:buFont typeface="Arial"/>
              <a:buNone/>
            </a:pPr>
            <a:r>
              <a:rPr b="1" i="0" lang="en-US" sz="16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최다 오류의 정체</a:t>
            </a:r>
            <a:endParaRPr i="0" sz="16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645152" y="3035808"/>
            <a:ext cx="3017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확장 평가에서 가장 많이 틀린 경계는 '나빠짐 vs 새 증상'. gold 라벨을 만들 때 고민했던 지점 </a:t>
            </a:r>
            <a:r>
              <a:rPr lang="en-US" sz="130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모델 탓이 아니라 분류 체계의 문제.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645152" y="48006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→ '양상 변화' 중간 카테고리 신설 제안</a:t>
            </a:r>
            <a:endParaRPr i="0" sz="13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8101584" y="1737360"/>
            <a:ext cx="3520440" cy="3657600"/>
          </a:xfrm>
          <a:prstGeom prst="roundRect">
            <a:avLst>
              <a:gd fmla="val 2078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375904" y="1965960"/>
            <a:ext cx="502920" cy="50292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375904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3</a:t>
            </a:r>
            <a:endParaRPr i="0" sz="19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375904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50"/>
              <a:buFont typeface="Arial"/>
              <a:buNone/>
            </a:pPr>
            <a:r>
              <a:rPr b="1" i="0" lang="en-US" sz="16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smoke test의 오분류</a:t>
            </a:r>
            <a:endParaRPr i="0" sz="16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375904" y="3035808"/>
            <a:ext cx="3017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본 평가 전 소규모 실행에서 증상 변화 오분류를 발견, 판정 기준을 v3 프롬프트에 반영.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375904" y="48006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→ v3 도메인 규칙</a:t>
            </a:r>
            <a:r>
              <a:rPr b="1" lang="en-US" sz="1350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으</a:t>
            </a:r>
            <a:r>
              <a:rPr b="1" i="0" lang="en-US" sz="13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로 반영</a:t>
            </a:r>
            <a:endParaRPr i="0" sz="13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300"/>
              <a:buFont typeface="Arial"/>
              <a:buNone/>
            </a:pPr>
            <a:r>
              <a:rPr i="1" lang="en-US" sz="15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좋은 평가는 점수를 매기는 데서 끝나지 않고, 데이터·분류 체계·프롬프트를 고치는 근거가 된다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09 · 핵심 배움 ③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쉬운 세트의 만점은 일반화를 보장하지 않는다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40080" y="1783080"/>
            <a:ext cx="10927080" cy="1234440"/>
          </a:xfrm>
          <a:prstGeom prst="roundRect">
            <a:avLst>
              <a:gd fmla="val 592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960120" y="194767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1차 파일럿 · 10건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60120" y="235915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25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방법론 검증용 쉬운 세트</a:t>
            </a:r>
            <a:endParaRPr i="0" sz="12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343400" y="1783080"/>
            <a:ext cx="3383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 85.7% · F1 1.000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863840" y="1783080"/>
            <a:ext cx="3383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만점 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그러나 여기서 멈췄다면?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760720" y="299008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000"/>
              <a:buFont typeface="Arial"/>
              <a:buNone/>
            </a:pPr>
            <a:r>
              <a:rPr i="0" lang="en-US" sz="11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▼</a:t>
            </a:r>
            <a:endParaRPr i="0" sz="1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40080" y="3200400"/>
            <a:ext cx="10927080" cy="1234440"/>
          </a:xfrm>
          <a:prstGeom prst="roundRect">
            <a:avLst>
              <a:gd fmla="val 5926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960120" y="336499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확장 · 개발 20건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960120" y="377647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0" lang="en-US" sz="125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사투리·다중 요청·희소 라벨 포함</a:t>
            </a:r>
            <a:endParaRPr i="0" sz="12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343400" y="3200400"/>
            <a:ext cx="3383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 60% · F1 0.949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7863840" y="3200400"/>
            <a:ext cx="3383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케이스를 어렵게 만들자 점수 하락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760720" y="44074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000"/>
              <a:buFont typeface="Arial"/>
              <a:buNone/>
            </a:pPr>
            <a:r>
              <a:rPr i="0" lang="en-US" sz="11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▼</a:t>
            </a:r>
            <a:endParaRPr i="0" sz="11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40080" y="4617720"/>
            <a:ext cx="10927080" cy="1234440"/>
          </a:xfrm>
          <a:prstGeom prst="roundRect">
            <a:avLst>
              <a:gd fmla="val 5926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960120" y="47823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시험 세트 · 10건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960120" y="519379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C7"/>
              </a:buClr>
              <a:buSzPts val="1150"/>
              <a:buFont typeface="Arial"/>
              <a:buNone/>
            </a:pPr>
            <a:r>
              <a:rPr i="0" lang="en-US" sz="1300" u="none" cap="none" strike="noStrike">
                <a:solidFill>
                  <a:srgbClr val="A8C9C7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프롬프트 개선에 쓰지 않은 미공개 케이스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343400" y="4617720"/>
            <a:ext cx="3383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EM 40% · F1 0.912</a:t>
            </a:r>
            <a:endParaRPr i="0" sz="20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863840" y="4617720"/>
            <a:ext cx="3383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방문 형태 정확도 100% 유지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300"/>
              <a:buFont typeface="Arial"/>
              <a:buNone/>
            </a:pPr>
            <a:r>
              <a:rPr i="1" lang="en-US" sz="15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점수가 내려간 것 자체가 성과</a:t>
            </a:r>
            <a:r>
              <a:rPr i="1" lang="en-US" sz="150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:</a:t>
            </a:r>
            <a:r>
              <a:rPr i="1" lang="en-US" sz="15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파일럿의 만점이 허상임을 스스로 검증하고, 더 어려운 데이터로 한계를 먼저 드러냈</a:t>
            </a:r>
            <a:r>
              <a:rPr i="1" lang="en-US" sz="150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음을 발견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10 · 안전 설계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“저만 왔어요” — 같은 입력에 다른 답이 나올 때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40080" y="1691640"/>
            <a:ext cx="5212080" cy="2743200"/>
          </a:xfrm>
          <a:prstGeom prst="roundRect">
            <a:avLst>
              <a:gd fmla="val 2667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14400" y="18745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무슨 일이 있었나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914400" y="2240280"/>
            <a:ext cx="4709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300"/>
              <a:buFont typeface="Arial"/>
              <a:buNone/>
            </a:pPr>
            <a:r>
              <a:rPr i="0" lang="en-US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보호자 단독 내원 케이스(“저만 왔어요”)를 smoke test에서는 맞혔지만, 본 실행에서는 두 차례 모두 틀렸다. 프롬프트도 입력도 같은데 결과가 달라지는 비결정성.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914400" y="361188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방문 형태는 보호자 단독 시 처방·상담 범위가 달라지는 행정·안전 민감 필드 </a:t>
            </a:r>
            <a:r>
              <a:rPr lang="en-US" sz="130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3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프롬프트만으로는 보장할 수 없다.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355080" y="1737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설계에 반영한 안전장치 — 이중화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355080" y="219456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355080" y="2194560"/>
            <a:ext cx="2468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UI 선택값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(신뢰 소스)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9098280" y="219456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9098280" y="2194560"/>
            <a:ext cx="2468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LLM 추출값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(참고)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452360" y="333756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00"/>
              <a:buFont typeface="Arial"/>
              <a:buNone/>
            </a:pPr>
            <a:r>
              <a:rPr i="0" lang="en-US" sz="12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충돌 시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732520" y="3246120"/>
            <a:ext cx="457200" cy="5029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355080" y="3840480"/>
            <a:ext cx="5212080" cy="685800"/>
          </a:xfrm>
          <a:prstGeom prst="roundRect">
            <a:avLst>
              <a:gd fmla="val 10667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355080" y="384048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UI에서 사용자가 직접 고른 방문 형태 선택값을 우선 적용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640080" y="4892040"/>
            <a:ext cx="10927080" cy="1188720"/>
          </a:xfrm>
          <a:prstGeom prst="roundRect">
            <a:avLst>
              <a:gd fmla="val 6154" name="adj"/>
            </a:avLst>
          </a:prstGeom>
          <a:solidFill>
            <a:srgbClr val="0A3A40"/>
          </a:solidFill>
          <a:ln cap="flat" cmpd="sng" w="12700">
            <a:solidFill>
              <a:srgbClr val="0A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005840" y="489204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판단 기준 — </a:t>
            </a:r>
            <a:r>
              <a:rPr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안전에 민감한 필드는 모델 성능을 올리는 것보다, 모델이 틀려도 시스템이 틀리지 않는 구조를 먼저 설계한다.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11 · 프로토타입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40080" y="658368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문진 UI — 임상 안전망과 입력 부담 사이의 절충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640080" y="1691640"/>
            <a:ext cx="68580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914400" y="182880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50"/>
              <a:buFont typeface="Arial"/>
              <a:buNone/>
            </a:pPr>
            <a:r>
              <a:rPr b="1" i="0" lang="en-US" sz="15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증상 변화는 누구에게나 확인</a:t>
            </a:r>
            <a:endParaRPr i="0" sz="15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914400" y="2194560"/>
            <a:ext cx="6355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약 처방만 받으러 온 재진에서도 '변화 없음'을 확인하는 것 자체가 기록 가치가 있다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.</a:t>
            </a:r>
            <a:endParaRPr sz="1300">
              <a:solidFill>
                <a:srgbClr val="20302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선택형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으로</a:t>
            </a: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부담</a:t>
            </a:r>
            <a:r>
              <a:rPr lang="en-US" sz="13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을 낮춤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640080" y="3172968"/>
            <a:ext cx="68580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914400" y="3310128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50"/>
              <a:buFont typeface="Arial"/>
              <a:buNone/>
            </a:pPr>
            <a:r>
              <a:rPr b="1" i="0" lang="en-US" sz="15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서술형 입력은 필요할 때만</a:t>
            </a:r>
            <a:endParaRPr i="0" sz="15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914400" y="3675888"/>
            <a:ext cx="6355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자유 서술란은 '증상 상담'을 선택한 경우에만 노출. 고령 환자·보호자의 입력 부담을 최소화.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40080" y="4654296"/>
            <a:ext cx="6858000" cy="1325880"/>
          </a:xfrm>
          <a:prstGeom prst="roundRect">
            <a:avLst>
              <a:gd fmla="val 5517" name="adj"/>
            </a:avLst>
          </a:prstGeom>
          <a:solidFill>
            <a:srgbClr val="EDF5F4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914400" y="4791456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50"/>
              <a:buFont typeface="Arial"/>
              <a:buNone/>
            </a:pPr>
            <a:r>
              <a:rPr b="1" i="0" lang="en-US" sz="15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방문 형태는 UI 선택값이 기준</a:t>
            </a:r>
            <a:endParaRPr i="0" sz="15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914400" y="5157216"/>
            <a:ext cx="6355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200"/>
              <a:buFont typeface="Arial"/>
              <a:buNone/>
            </a:pPr>
            <a:r>
              <a:rPr i="0" lang="en-US" sz="13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비결정성 이슈가 확인된 필드는 LLM 추출값 대신 사용자가 고른 선택값을 신뢰 소스로 사용.</a:t>
            </a:r>
            <a:endParaRPr i="0" sz="13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descr="/private/tmp/claude-501/-Users-mac-Documents-Project/a8373b58-9b08-46e3-a566-950532eac7fa/scratchpad/ui_crop.png" id="303" name="Google Shape;3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417320"/>
            <a:ext cx="3246120" cy="47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/>
          <p:nvPr/>
        </p:nvSpPr>
        <p:spPr>
          <a:xfrm>
            <a:off x="7863840" y="61722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000"/>
              <a:buFont typeface="Arial"/>
              <a:buNone/>
            </a:pPr>
            <a:r>
              <a:rPr i="1" lang="en-US" sz="1200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HTML/CSS/JS 프로토타입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12 · 실험 관리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모든 호출을 추적하고, 재호출 없이 비교한다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640075" y="1691650"/>
            <a:ext cx="4617600" cy="1326000"/>
          </a:xfrm>
          <a:prstGeom prst="roundRect">
            <a:avLst>
              <a:gd fmla="val 5517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50"/>
              <a:buFont typeface="Arial"/>
              <a:buNone/>
            </a:pPr>
            <a:r>
              <a:rPr b="1" i="0" lang="en-US" sz="15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 호출 트레이싱</a:t>
            </a:r>
            <a:endParaRPr i="0" sz="15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914400" y="2194550"/>
            <a:ext cx="425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2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토큰 사용량 · 지연시간 · 프롬프트 원문까지 LangSmith에 기록</a:t>
            </a:r>
            <a:endParaRPr sz="1250">
              <a:solidFill>
                <a:srgbClr val="20302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lang="en-US" sz="125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2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“왜 이 답이 나왔나”를 언제든 역추적</a:t>
            </a:r>
            <a:endParaRPr i="0" sz="12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40075" y="3172975"/>
            <a:ext cx="4617600" cy="1326000"/>
          </a:xfrm>
          <a:prstGeom prst="roundRect">
            <a:avLst>
              <a:gd fmla="val 5517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914400" y="3310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50"/>
              <a:buFont typeface="Arial"/>
              <a:buNone/>
            </a:pPr>
            <a:r>
              <a:rPr b="1" i="0" lang="en-US" sz="15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버전별 실험 기록</a:t>
            </a:r>
            <a:endParaRPr i="0" sz="15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914400" y="3675900"/>
            <a:ext cx="425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2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데이터셋 opd-intake-dev에 v0~v3 실험 4개를 등록해</a:t>
            </a:r>
            <a:br>
              <a:rPr lang="en-US" sz="125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i="0" lang="en-US" sz="12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대시보드에서 나란히 비교</a:t>
            </a:r>
            <a:endParaRPr i="0" sz="12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640075" y="4654300"/>
            <a:ext cx="4617600" cy="1326000"/>
          </a:xfrm>
          <a:prstGeom prst="roundRect">
            <a:avLst>
              <a:gd fmla="val 5517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914400" y="479145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450"/>
              <a:buFont typeface="Arial"/>
              <a:buNone/>
            </a:pPr>
            <a:r>
              <a:rPr b="1" i="0" lang="en-US" sz="155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비용 의식적 설계</a:t>
            </a:r>
            <a:endParaRPr i="0" sz="15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14400" y="5157225"/>
            <a:ext cx="425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150"/>
              <a:buFont typeface="Arial"/>
              <a:buNone/>
            </a:pPr>
            <a:r>
              <a:rPr i="0" lang="en-US" sz="12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이미 저장된 예측을 재사용해 API 재호출 없이 실험 기록</a:t>
            </a:r>
            <a:br>
              <a:rPr lang="en-US" sz="125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</a:br>
            <a:r>
              <a:rPr lang="en-US" sz="125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sz="125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같은 결과에 두 번 비용을 쓰지 않</a:t>
            </a:r>
            <a:r>
              <a:rPr lang="en-US" sz="125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도록</a:t>
            </a:r>
            <a:endParaRPr i="0" sz="125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pic>
        <p:nvPicPr>
          <p:cNvPr id="321" name="Google Shape;321;p13"/>
          <p:cNvPicPr preferRelativeResize="0"/>
          <p:nvPr/>
        </p:nvPicPr>
        <p:blipFill rotWithShape="1">
          <a:blip r:embed="rId3">
            <a:alphaModFix/>
          </a:blip>
          <a:srcRect b="0" l="0" r="23283" t="0"/>
          <a:stretch/>
        </p:blipFill>
        <p:spPr>
          <a:xfrm>
            <a:off x="5626800" y="1872137"/>
            <a:ext cx="5922068" cy="3927676"/>
          </a:xfrm>
          <a:prstGeom prst="rect">
            <a:avLst/>
          </a:prstGeom>
          <a:solidFill>
            <a:srgbClr val="FAFCFC"/>
          </a:solidFill>
          <a:ln>
            <a:noFill/>
          </a:ln>
        </p:spPr>
      </p:pic>
      <p:sp>
        <p:nvSpPr>
          <p:cNvPr id="322" name="Google Shape;322;p13"/>
          <p:cNvSpPr/>
          <p:nvPr/>
        </p:nvSpPr>
        <p:spPr>
          <a:xfrm>
            <a:off x="6964840" y="5656548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150"/>
              <a:buFont typeface="Arial"/>
              <a:buNone/>
            </a:pPr>
            <a:r>
              <a:rPr i="1" lang="en-US" sz="1200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LangSmith 실험 비교 화면</a:t>
            </a:r>
            <a:endParaRPr i="1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13 · 다음 단계</a:t>
            </a:r>
            <a:endParaRPr i="0" sz="1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개선을 위한 다음 단계</a:t>
            </a:r>
            <a:endParaRPr i="0" sz="2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640080" y="1737360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896112" y="1965960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896112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1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1554480" y="173736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증상 변화 분류 체계 개선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360576" y="1737350"/>
            <a:ext cx="693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'양상 변화 있음' 중간 카테고리 신설 검토 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라벨·프롬프트·UI를 함께 수정해야 하는 변경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640080" y="2816352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896112" y="3044952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896112" y="3044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1554480" y="2816352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반복 오류의 규칙화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4360576" y="2816342"/>
            <a:ext cx="693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'서류 발급 vs 검사결과 확인' 혼동이 두 실행에서 반복 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구분 규칙을 다음 프롬프트 과제로 기록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640080" y="3895344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EDF5F4"/>
          </a:solidFill>
          <a:ln cap="flat" cmpd="sng" w="12700">
            <a:solidFill>
              <a:srgbClr val="ED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896112" y="4123944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896112" y="41239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3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1554480" y="3895344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표현 오류의 정량화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360576" y="3895333"/>
            <a:ext cx="693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자유 서술 필드는 자동 채점이 어려움 </a:t>
            </a:r>
            <a:r>
              <a:rPr lang="en-US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LLM-as-judge 도입 검토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640080" y="4974336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CF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896112" y="5202936"/>
            <a:ext cx="457200" cy="457200"/>
          </a:xfrm>
          <a:prstGeom prst="ellipse">
            <a:avLst/>
          </a:prstGeom>
          <a:solidFill>
            <a:srgbClr val="0E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896112" y="5202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4</a:t>
            </a:r>
            <a:endParaRPr i="0" sz="16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554480" y="4974336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302F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20302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방문 형태 안전장치 구현</a:t>
            </a:r>
            <a:endParaRPr i="0" sz="15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360576" y="4974325"/>
            <a:ext cx="693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E6E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5F6E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규칙 기반 후처리 또는 UI 선택값 우선 정책을 실제 코드로 구현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40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 프로젝트로 보여드리고 싶은 것</a:t>
            </a:r>
            <a:endParaRPr i="0" sz="32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822960" y="1783080"/>
            <a:ext cx="10515600" cy="1051560"/>
          </a:xfrm>
          <a:prstGeom prst="roundRect">
            <a:avLst>
              <a:gd fmla="val 6957" name="adj"/>
            </a:avLst>
          </a:prstGeom>
          <a:solidFill>
            <a:srgbClr val="0F4A50"/>
          </a:solidFill>
          <a:ln cap="flat" cmpd="sng" w="12700">
            <a:solidFill>
              <a:srgbClr val="1E60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143000" y="1783080"/>
            <a:ext cx="3291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600"/>
              <a:buFont typeface="Arial"/>
              <a:buNone/>
            </a:pPr>
            <a:r>
              <a:rPr b="1" i="0" lang="en-US" sz="17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현장에서 문제를 정의한다</a:t>
            </a:r>
            <a:endParaRPr i="0" sz="1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4572000" y="1783080"/>
            <a:ext cx="6583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외래 간호사로 매일 겪은 네 가지 문제에서 출발 </a:t>
            </a:r>
            <a:r>
              <a:rPr lang="en-US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-</a:t>
            </a:r>
            <a:r>
              <a:rPr i="0" lang="en-US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문제</a:t>
            </a:r>
            <a:r>
              <a:rPr lang="en-US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인식을 통한 서비스 기획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822960" y="3116624"/>
            <a:ext cx="10515600" cy="1051500"/>
          </a:xfrm>
          <a:prstGeom prst="roundRect">
            <a:avLst>
              <a:gd fmla="val 6957" name="adj"/>
            </a:avLst>
          </a:prstGeom>
          <a:solidFill>
            <a:srgbClr val="0F4A50"/>
          </a:solidFill>
          <a:ln cap="flat" cmpd="sng" w="12700">
            <a:solidFill>
              <a:srgbClr val="1E60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1143000" y="3017520"/>
            <a:ext cx="3291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600"/>
              <a:buFont typeface="Arial"/>
              <a:buNone/>
            </a:pPr>
            <a:r>
              <a:rPr b="1" i="0" lang="en-US" sz="17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숫자로 의사결정한다</a:t>
            </a:r>
            <a:endParaRPr i="0" sz="1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4572000" y="3116624"/>
            <a:ext cx="6583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Exact Match · Micro F1 · 누락률로 버전을 선택하고, 평가 체계 자체를 직접 설계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822960" y="4450168"/>
            <a:ext cx="10515600" cy="1051500"/>
          </a:xfrm>
          <a:prstGeom prst="roundRect">
            <a:avLst>
              <a:gd fmla="val 6957" name="adj"/>
            </a:avLst>
          </a:prstGeom>
          <a:solidFill>
            <a:srgbClr val="0F4A50"/>
          </a:solidFill>
          <a:ln cap="flat" cmpd="sng" w="12700">
            <a:solidFill>
              <a:srgbClr val="1E60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1143000" y="4251960"/>
            <a:ext cx="3291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4"/>
              </a:buClr>
              <a:buSzPts val="1600"/>
              <a:buFont typeface="Arial"/>
              <a:buNone/>
            </a:pPr>
            <a:r>
              <a:rPr b="1" i="0" lang="en-US" sz="1700" u="none" cap="none" strike="noStrike">
                <a:solidFill>
                  <a:srgbClr val="CFE6E4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실패를 설계에 반영한다</a:t>
            </a:r>
            <a:endParaRPr i="0" sz="170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572000" y="4450168"/>
            <a:ext cx="6583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v2의 성능 하락과 비결정성 문제를 안전장치와 다음 과제로 연결</a:t>
            </a:r>
            <a:endParaRPr i="0" u="none" cap="none" strike="noStrike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2026-07-10T04:32:12Z</dcterms:created>
  <dc:creator>PptxGenJS</dc:creator>
</cp:coreProperties>
</file>